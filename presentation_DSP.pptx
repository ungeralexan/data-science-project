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58" r:id="rId6"/>
    <p:sldId id="260" r:id="rId7"/>
    <p:sldId id="259" r:id="rId8"/>
    <p:sldId id="265" r:id="rId9"/>
    <p:sldId id="261" r:id="rId10"/>
    <p:sldId id="264" r:id="rId11"/>
    <p:sldId id="262" r:id="rId12"/>
    <p:sldId id="266" r:id="rId13"/>
    <p:sldId id="263" r:id="rId1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56B144-9655-E9BB-7318-FE34C5E1A4FC}" v="159" dt="2025-10-30T13:38:53.578"/>
    <p1510:client id="{2A28B220-FE04-135C-32FA-5EC58D7BADAF}" v="63" dt="2025-10-30T12:36:37.997"/>
    <p1510:client id="{46AB287C-4522-E8A2-0BDC-41D0316B4F15}" v="91" dt="2025-10-30T14:23:00.317"/>
    <p1510:client id="{5B47718B-0F11-3F37-F003-24ECB158DE75}" v="2" dt="2025-10-29T18:23:09.440"/>
    <p1510:client id="{BF062128-2DA0-DA38-06F1-F3A3780A5678}" v="5" dt="2025-10-31T12:28:20.3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B4A0B-051B-4358-988B-C47B3A8E5904}" type="datetimeFigureOut">
              <a:rPr lang="en-DE" smtClean="0"/>
              <a:t>11/01/2025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ED257-A749-4256-B8DF-3587B3914522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63451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ED257-A749-4256-B8DF-3587B3914522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68015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2451B-F69F-69F1-9A48-89017B4D1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199F5-2DDB-29CD-F51F-629DAA843B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0AF6B-051E-5C69-ACE4-9D910E14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1F67C-8D0C-479F-B58F-F22AF6FB1633}" type="datetimeFigureOut">
              <a:rPr lang="en-DE" smtClean="0"/>
              <a:t>11/01/2025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DCB71-422E-2B51-6BE7-31F5E35D8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9F526-3372-A208-FF26-D979E20D1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01F7-3C8D-4057-A3C4-47C81CCB3E1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67496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9112-01BF-BE78-AF3A-11D1EE958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DF3F4-69C0-D442-65A0-BD9181510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6004D-5DAB-EA06-8640-BBF03B9CF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1F67C-8D0C-479F-B58F-F22AF6FB1633}" type="datetimeFigureOut">
              <a:rPr lang="en-DE" smtClean="0"/>
              <a:t>11/01/2025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A753D-A9B1-E926-14C1-C832AD175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39D16-F220-261A-1FD9-1FB5CE8B1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01F7-3C8D-4057-A3C4-47C81CCB3E1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94121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7BA10-43B7-9C06-F06C-CD12E70F7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83386-742E-1CE5-05A3-A8292CD5E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C26AC-6493-C188-1FDF-51D29018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1F67C-8D0C-479F-B58F-F22AF6FB1633}" type="datetimeFigureOut">
              <a:rPr lang="en-DE" smtClean="0"/>
              <a:t>11/01/2025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F9690-7245-ADED-32BB-9E62D89F2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2C376-D587-8C48-8FDA-CCF75D4F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01F7-3C8D-4057-A3C4-47C81CCB3E1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13332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56699-F709-C7F0-EC7F-D6F592B74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D01B0-0CC2-785A-8F9C-A148D908FB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ED4D2-A48D-BA2E-E90A-1E225B954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D69D4-DA29-5681-6D1E-435C3F5E4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1F67C-8D0C-479F-B58F-F22AF6FB1633}" type="datetimeFigureOut">
              <a:rPr lang="en-DE" smtClean="0"/>
              <a:t>11/01/2025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F994E-2976-A795-CCE3-B3F4AABC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E9766-8B10-1CEF-0736-8B1F4F0DA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01F7-3C8D-4057-A3C4-47C81CCB3E1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84817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08C80-A9DB-BE59-19F3-81D3807E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6A955-6421-7C08-0D51-F27CCC7A7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D1B10-7B73-94AC-448E-1DD0C6667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55F4D5-E061-9645-2592-4909A1F51A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636680-BE95-58C1-0B83-960E1D454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8651EC-0A78-CB75-2886-39E933084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1F67C-8D0C-479F-B58F-F22AF6FB1633}" type="datetimeFigureOut">
              <a:rPr lang="en-DE" smtClean="0"/>
              <a:t>11/01/2025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1FF87-7F28-F597-607C-9C248B6DD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154B57-88AE-0926-DC99-3E96FE3F4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01F7-3C8D-4057-A3C4-47C81CCB3E1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66730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DE2D7-C1EE-07D3-DC52-16FEEBCE0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FF3ED4-C3A9-975E-A526-A5AC58B7F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1F67C-8D0C-479F-B58F-F22AF6FB1633}" type="datetimeFigureOut">
              <a:rPr lang="en-DE" smtClean="0"/>
              <a:t>11/01/2025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7CD198-2572-4A8A-AC7D-ED57B1734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3ABF9-C6A1-5414-97E9-946D809F0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01F7-3C8D-4057-A3C4-47C81CCB3E1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70440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CD0A76-A2C3-B932-2AC3-F9DC29175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1F67C-8D0C-479F-B58F-F22AF6FB1633}" type="datetimeFigureOut">
              <a:rPr lang="en-DE" smtClean="0"/>
              <a:t>11/01/2025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9F881-1FDE-3BB5-6F1C-84CB50DFF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76DF0-0A85-869B-A43A-2A5B902E5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01F7-3C8D-4057-A3C4-47C81CCB3E1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00304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B9D20-D98E-6D03-260F-352AFC9FF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C2447-F21F-9839-0D61-0392629CB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E23AAE-CF55-00EA-B0A9-4B73725BF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1AF81-0FCF-A0B6-AA27-65BD01BA9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1F67C-8D0C-479F-B58F-F22AF6FB1633}" type="datetimeFigureOut">
              <a:rPr lang="en-DE" smtClean="0"/>
              <a:t>11/01/2025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BE396-2397-55F3-7EE3-DE9403F5A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4B751-3668-D515-1B83-85E4596F2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01F7-3C8D-4057-A3C4-47C81CCB3E1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63641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91904-5EAD-F25F-525F-01ABFC8BB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D3AF5F-E140-1195-F7F9-7DF613D0B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F3AF4-025A-75B3-6E63-91F8DE817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2EB9C-472F-DEDB-41F6-49FD52511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1F67C-8D0C-479F-B58F-F22AF6FB1633}" type="datetimeFigureOut">
              <a:rPr lang="en-DE" smtClean="0"/>
              <a:t>11/01/2025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F6C796-C420-590A-18BE-BBEA21091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0F8EA-A62F-A5B2-7A16-38FB72258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01F7-3C8D-4057-A3C4-47C81CCB3E1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30805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7DC17-16DC-C367-E376-941A65FA6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23BB1-8F7B-CA19-570F-956AD3B6A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25711-0C96-AA3B-8781-E8BE20DE2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1F67C-8D0C-479F-B58F-F22AF6FB1633}" type="datetimeFigureOut">
              <a:rPr lang="en-DE" smtClean="0"/>
              <a:t>11/01/2025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19283-3C04-9053-C2FB-ADACF92C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424E7-8A71-DF0D-91CA-4A1F9816D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01F7-3C8D-4057-A3C4-47C81CCB3E1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12546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979694-4E3D-4C74-5DD5-06EE26E409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84E42-D03D-EFA3-3122-A36332350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FADB6-1E69-B421-01A1-7BF3C748D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1F67C-8D0C-479F-B58F-F22AF6FB1633}" type="datetimeFigureOut">
              <a:rPr lang="en-DE" smtClean="0"/>
              <a:t>11/01/2025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3A920-67E3-469D-B4A3-C57584692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F103E-9EF9-CC25-A26A-218E0E4D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E01F7-3C8D-4057-A3C4-47C81CCB3E1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24683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D4D280-812B-AE35-7C86-C180A559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BE9B0-ED24-AF12-37D3-338A4E5F0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DDF6F-FE05-7036-16F8-30AF9C80F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91F67C-8D0C-479F-B58F-F22AF6FB1633}" type="datetimeFigureOut">
              <a:rPr lang="en-DE" smtClean="0"/>
              <a:t>11/01/2025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98D12-BECA-1E77-D972-5E5B38443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2398A-8D6C-2414-CABB-466AF5C61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DE01F7-3C8D-4057-A3C4-47C81CCB3E1C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51393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08EC91-D6DA-9599-1514-DCE70A7C97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" b="57839"/>
          <a:stretch>
            <a:fillRect/>
          </a:stretch>
        </p:blipFill>
        <p:spPr>
          <a:xfrm>
            <a:off x="538954" y="-7184"/>
            <a:ext cx="10885974" cy="68611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70ACAC-3352-B3D2-C72F-729514AE0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92721" y="3509962"/>
            <a:ext cx="5606555" cy="1918315"/>
          </a:xfrm>
        </p:spPr>
        <p:txBody>
          <a:bodyPr>
            <a:noAutofit/>
          </a:bodyPr>
          <a:lstStyle/>
          <a:p>
            <a:br>
              <a:rPr lang="en-DE" sz="4800">
                <a:solidFill>
                  <a:srgbClr val="FFFFFF"/>
                </a:solidFill>
                <a:latin typeface="Amasis MT Pro Medium" panose="02040604050005020304" pitchFamily="18" charset="0"/>
              </a:rPr>
            </a:br>
            <a:r>
              <a:rPr lang="en-US" sz="4800">
                <a:latin typeface="Amasis MT Pro Medium" panose="02040604050005020304" pitchFamily="18" charset="0"/>
              </a:rPr>
              <a:t>Personalized event recommendation app for UT students</a:t>
            </a:r>
            <a:endParaRPr lang="en-DE" sz="4800">
              <a:latin typeface="Amasis MT Pro Medium" panose="020406040500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665DB8-EABC-6DDC-29C5-BCB1887C7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0757" y="5737546"/>
            <a:ext cx="3810482" cy="703930"/>
          </a:xfrm>
        </p:spPr>
        <p:txBody>
          <a:bodyPr/>
          <a:lstStyle/>
          <a:p>
            <a:r>
              <a:rPr lang="en-US"/>
              <a:t>Team: Veja, Alex, Maurice</a:t>
            </a:r>
            <a:endParaRPr lang="en-DE">
              <a:effectLst/>
            </a:endParaRPr>
          </a:p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30750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3D943-93BD-0813-A52E-5C7CB2181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0DE19-942C-39BC-9C45-B4CDB2801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1993107"/>
            <a:ext cx="5003800" cy="38766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endParaRPr lang="en-US" sz="2000"/>
          </a:p>
          <a:p>
            <a:pPr marL="0" indent="0" algn="just">
              <a:buNone/>
            </a:pPr>
            <a:r>
              <a:rPr lang="en-US" sz="2000"/>
              <a:t>                  Problem</a:t>
            </a:r>
          </a:p>
          <a:p>
            <a:pPr marL="0" indent="0" algn="just">
              <a:buNone/>
            </a:pPr>
            <a:endParaRPr lang="en-US" sz="2000"/>
          </a:p>
          <a:p>
            <a:pPr algn="just"/>
            <a:r>
              <a:rPr lang="en-US" sz="2000"/>
              <a:t>University mailing lists are noisy and overwhelming</a:t>
            </a:r>
          </a:p>
          <a:p>
            <a:pPr algn="just"/>
            <a:r>
              <a:rPr lang="en-US" sz="2000"/>
              <a:t>Students often miss events relevant to their program or interests</a:t>
            </a:r>
          </a:p>
          <a:p>
            <a:pPr algn="just"/>
            <a:endParaRPr lang="en-DE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7EAC2-CD1A-F4B3-53D3-9D4099630649}"/>
              </a:ext>
            </a:extLst>
          </p:cNvPr>
          <p:cNvSpPr txBox="1"/>
          <p:nvPr/>
        </p:nvSpPr>
        <p:spPr>
          <a:xfrm>
            <a:off x="6083300" y="1993107"/>
            <a:ext cx="5410200" cy="3633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28600" marR="0" lvl="0" indent="-2286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000">
                <a:solidFill>
                  <a:prstClr val="black"/>
                </a:solidFill>
              </a:rPr>
              <a:t>                Solution</a:t>
            </a:r>
          </a:p>
          <a:p>
            <a:pPr marR="0" lvl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000">
              <a:solidFill>
                <a:prstClr val="black"/>
              </a:solidFill>
            </a:endParaRPr>
          </a:p>
          <a:p>
            <a:pPr marL="342900" marR="0" lvl="0" indent="-3429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Extract event information from unstructured university emails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342900" marR="0" lvl="0" indent="-3429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Match events to student profiles and interests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342900" marR="0" lvl="0" indent="-3429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Display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 a personalized feed of relevant events (talks, workshops, career fairs)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342900" marR="0" lvl="0" indent="-34290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All in a clean, intuitive interface</a:t>
            </a:r>
            <a:endParaRPr kumimoji="0" lang="en-DE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8" name="Graphic 7" descr="Questions outline">
            <a:extLst>
              <a:ext uri="{FF2B5EF4-FFF2-40B4-BE49-F238E27FC236}">
                <a16:creationId xmlns:a16="http://schemas.microsoft.com/office/drawing/2014/main" id="{B9391755-D89C-2A94-8939-7489146F2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600" y="2147888"/>
            <a:ext cx="914400" cy="914400"/>
          </a:xfrm>
          <a:prstGeom prst="rect">
            <a:avLst/>
          </a:prstGeom>
        </p:spPr>
      </p:pic>
      <p:pic>
        <p:nvPicPr>
          <p:cNvPr id="10" name="Graphic 9" descr="Lights On outline">
            <a:extLst>
              <a:ext uri="{FF2B5EF4-FFF2-40B4-BE49-F238E27FC236}">
                <a16:creationId xmlns:a16="http://schemas.microsoft.com/office/drawing/2014/main" id="{64D3DEF0-F623-BED8-D934-53E732C513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5739" y="214788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586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6366C-C33C-34AC-5685-E4F4274B2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Getting structured data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B2F4F-D6C5-2FCD-38E6-8B34E8A06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de-DE" sz="2000"/>
              <a:t>Download &amp; save </a:t>
            </a:r>
            <a:r>
              <a:rPr lang="de-DE" sz="2000" err="1"/>
              <a:t>emails</a:t>
            </a:r>
            <a:r>
              <a:rPr lang="de-DE" sz="2000"/>
              <a:t> </a:t>
            </a:r>
            <a:r>
              <a:rPr lang="de-DE" sz="2000" err="1"/>
              <a:t>as</a:t>
            </a:r>
            <a:r>
              <a:rPr lang="de-DE" sz="2000"/>
              <a:t> </a:t>
            </a:r>
            <a:r>
              <a:rPr lang="de-DE" sz="2000" err="1"/>
              <a:t>txt</a:t>
            </a:r>
            <a:r>
              <a:rPr lang="de-DE" sz="2000"/>
              <a:t> </a:t>
            </a:r>
            <a:r>
              <a:rPr lang="de-DE" sz="2000" err="1"/>
              <a:t>files</a:t>
            </a:r>
            <a:r>
              <a:rPr lang="de-DE" sz="2000"/>
              <a:t>.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de-DE" sz="2000"/>
              <a:t>Use Qwen2.5-7B-Instruct </a:t>
            </a:r>
            <a:r>
              <a:rPr lang="de-DE" sz="2000" err="1"/>
              <a:t>model</a:t>
            </a:r>
            <a:r>
              <a:rPr lang="de-DE" sz="2000"/>
              <a:t> via </a:t>
            </a:r>
            <a:r>
              <a:rPr lang="de-DE" sz="2000" err="1"/>
              <a:t>Huggingface</a:t>
            </a:r>
            <a:r>
              <a:rPr lang="de-DE" sz="2000"/>
              <a:t> </a:t>
            </a:r>
            <a:r>
              <a:rPr lang="de-DE" sz="2000" err="1"/>
              <a:t>to</a:t>
            </a:r>
            <a:r>
              <a:rPr lang="de-DE" sz="2000"/>
              <a:t> </a:t>
            </a:r>
            <a:r>
              <a:rPr lang="de-DE" sz="2000" err="1"/>
              <a:t>extract</a:t>
            </a:r>
            <a:r>
              <a:rPr lang="de-DE" sz="2000"/>
              <a:t> </a:t>
            </a:r>
            <a:r>
              <a:rPr lang="de-DE" sz="2000" err="1"/>
              <a:t>structured</a:t>
            </a:r>
            <a:r>
              <a:rPr lang="de-DE" sz="2000"/>
              <a:t> </a:t>
            </a:r>
            <a:r>
              <a:rPr lang="de-DE" sz="2000" err="1"/>
              <a:t>data</a:t>
            </a:r>
            <a:r>
              <a:rPr lang="de-DE" sz="2000"/>
              <a:t> </a:t>
            </a:r>
            <a:r>
              <a:rPr lang="de-DE" sz="2000" err="1"/>
              <a:t>from</a:t>
            </a:r>
            <a:r>
              <a:rPr lang="de-DE" sz="2000"/>
              <a:t> email </a:t>
            </a:r>
            <a:r>
              <a:rPr lang="de-DE" sz="2000" err="1"/>
              <a:t>text</a:t>
            </a:r>
            <a:r>
              <a:rPr lang="de-DE" sz="2000"/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de-DE" sz="2000"/>
              <a:t>Title, Description, Start &amp; End Date / Time, Organizer, Location, Speaker, Link</a:t>
            </a:r>
          </a:p>
          <a:p>
            <a:pPr>
              <a:buFont typeface="Calibri" panose="020B0604020202020204" pitchFamily="34" charset="0"/>
              <a:buChar char="-"/>
            </a:pPr>
            <a:endParaRPr lang="de-DE" sz="2400"/>
          </a:p>
        </p:txBody>
      </p:sp>
    </p:spTree>
    <p:extLst>
      <p:ext uri="{BB962C8B-B14F-4D97-AF65-F5344CB8AC3E}">
        <p14:creationId xmlns:p14="http://schemas.microsoft.com/office/powerpoint/2010/main" val="3930861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61F4F-8B40-7712-D58C-B63DCCBDA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Storing data 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28236-ADF1-D587-90EC-B2CFC7041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DE" sz="2000" err="1"/>
              <a:t>Supabase</a:t>
            </a:r>
            <a:r>
              <a:rPr lang="en-DE" sz="2000"/>
              <a:t> (PostgreSQL + API + Auth)</a:t>
            </a:r>
            <a:endParaRPr lang="de-DE" sz="2000"/>
          </a:p>
          <a:p>
            <a:r>
              <a:rPr lang="de-DE" sz="2000"/>
              <a:t>Central </a:t>
            </a:r>
            <a:r>
              <a:rPr lang="de-DE" sz="2000" err="1"/>
              <a:t>database</a:t>
            </a:r>
            <a:r>
              <a:rPr lang="de-DE" sz="2000"/>
              <a:t> </a:t>
            </a:r>
            <a:r>
              <a:rPr lang="de-DE" sz="2000" err="1"/>
              <a:t>for</a:t>
            </a:r>
            <a:r>
              <a:rPr lang="de-DE" sz="2000"/>
              <a:t> all </a:t>
            </a:r>
            <a:r>
              <a:rPr lang="de-DE" sz="2000" err="1"/>
              <a:t>structured</a:t>
            </a:r>
            <a:r>
              <a:rPr lang="de-DE" sz="2000"/>
              <a:t> </a:t>
            </a:r>
            <a:r>
              <a:rPr lang="de-DE" sz="2000" err="1"/>
              <a:t>event</a:t>
            </a:r>
            <a:r>
              <a:rPr lang="de-DE" sz="2000"/>
              <a:t> and </a:t>
            </a:r>
            <a:r>
              <a:rPr lang="de-DE" sz="2000" err="1"/>
              <a:t>student</a:t>
            </a:r>
            <a:r>
              <a:rPr lang="de-DE" sz="2000"/>
              <a:t> </a:t>
            </a:r>
            <a:r>
              <a:rPr lang="de-DE" sz="2000" err="1"/>
              <a:t>data</a:t>
            </a:r>
            <a:endParaRPr lang="de-DE" sz="2000"/>
          </a:p>
          <a:p>
            <a:r>
              <a:rPr lang="de-DE" sz="2000" err="1"/>
              <a:t>There</a:t>
            </a:r>
            <a:r>
              <a:rPr lang="de-DE" sz="2000"/>
              <a:t> </a:t>
            </a:r>
            <a:r>
              <a:rPr lang="de-DE" sz="2000" err="1"/>
              <a:t>is</a:t>
            </a:r>
            <a:r>
              <a:rPr lang="de-DE" sz="2000"/>
              <a:t> an </a:t>
            </a:r>
            <a:r>
              <a:rPr lang="de-DE" sz="2000" err="1"/>
              <a:t>autogenerated</a:t>
            </a:r>
            <a:r>
              <a:rPr lang="de-DE" sz="2000"/>
              <a:t> REST API in </a:t>
            </a:r>
            <a:r>
              <a:rPr lang="de-DE" sz="2000" err="1"/>
              <a:t>there</a:t>
            </a:r>
            <a:r>
              <a:rPr lang="de-DE" sz="2000"/>
              <a:t> </a:t>
            </a:r>
          </a:p>
          <a:p>
            <a:r>
              <a:rPr lang="de-DE" sz="2000" err="1"/>
              <a:t>Row</a:t>
            </a:r>
            <a:r>
              <a:rPr lang="de-DE" sz="2000"/>
              <a:t> Level </a:t>
            </a:r>
            <a:r>
              <a:rPr lang="de-DE" sz="2000" err="1"/>
              <a:t>security</a:t>
            </a:r>
            <a:r>
              <a:rPr lang="de-DE" sz="2000"/>
              <a:t> (</a:t>
            </a:r>
            <a:r>
              <a:rPr lang="de-DE" sz="2000" err="1"/>
              <a:t>especially</a:t>
            </a:r>
            <a:r>
              <a:rPr lang="de-DE" sz="2000"/>
              <a:t> </a:t>
            </a:r>
            <a:r>
              <a:rPr lang="de-DE" sz="2000" err="1"/>
              <a:t>when</a:t>
            </a:r>
            <a:r>
              <a:rPr lang="de-DE" sz="2000"/>
              <a:t> </a:t>
            </a:r>
            <a:r>
              <a:rPr lang="de-DE" sz="2000" err="1"/>
              <a:t>it</a:t>
            </a:r>
            <a:r>
              <a:rPr lang="de-DE" sz="2000"/>
              <a:t> </a:t>
            </a:r>
            <a:r>
              <a:rPr lang="de-DE" sz="2000" err="1"/>
              <a:t>comes</a:t>
            </a:r>
            <a:r>
              <a:rPr lang="de-DE" sz="2000"/>
              <a:t> </a:t>
            </a:r>
            <a:r>
              <a:rPr lang="de-DE" sz="2000" err="1"/>
              <a:t>to</a:t>
            </a:r>
            <a:r>
              <a:rPr lang="de-DE" sz="2000"/>
              <a:t> </a:t>
            </a:r>
            <a:r>
              <a:rPr lang="de-DE" sz="2000" err="1"/>
              <a:t>mails</a:t>
            </a:r>
            <a:r>
              <a:rPr lang="de-DE" sz="2000"/>
              <a:t>, </a:t>
            </a:r>
            <a:r>
              <a:rPr lang="de-DE" sz="2000" err="1"/>
              <a:t>nothing</a:t>
            </a:r>
            <a:r>
              <a:rPr lang="de-DE" sz="2000"/>
              <a:t> </a:t>
            </a:r>
            <a:r>
              <a:rPr lang="de-DE" sz="2000" err="1"/>
              <a:t>goes</a:t>
            </a:r>
            <a:r>
              <a:rPr lang="de-DE" sz="2000"/>
              <a:t> out)</a:t>
            </a:r>
          </a:p>
          <a:p>
            <a:r>
              <a:rPr lang="de-DE" sz="2000" err="1"/>
              <a:t>You</a:t>
            </a:r>
            <a:r>
              <a:rPr lang="de-DE" sz="2000"/>
              <a:t> </a:t>
            </a:r>
            <a:r>
              <a:rPr lang="de-DE" sz="2000" err="1"/>
              <a:t>can</a:t>
            </a:r>
            <a:r>
              <a:rPr lang="de-DE" sz="2000"/>
              <a:t> </a:t>
            </a:r>
            <a:r>
              <a:rPr lang="de-DE" sz="2000" err="1"/>
              <a:t>have</a:t>
            </a:r>
            <a:r>
              <a:rPr lang="de-DE" sz="2000"/>
              <a:t> </a:t>
            </a:r>
            <a:r>
              <a:rPr lang="de-DE" sz="2000" err="1"/>
              <a:t>several</a:t>
            </a:r>
            <a:r>
              <a:rPr lang="de-DE" sz="2000"/>
              <a:t> </a:t>
            </a:r>
            <a:r>
              <a:rPr lang="de-DE" sz="2000" err="1"/>
              <a:t>tables</a:t>
            </a:r>
            <a:r>
              <a:rPr lang="de-DE" sz="2000"/>
              <a:t> in </a:t>
            </a:r>
            <a:r>
              <a:rPr lang="de-DE" sz="2000" err="1"/>
              <a:t>there</a:t>
            </a:r>
            <a:r>
              <a:rPr lang="de-DE" sz="2000"/>
              <a:t> </a:t>
            </a:r>
          </a:p>
          <a:p>
            <a:pPr marL="0" indent="0">
              <a:buNone/>
            </a:pPr>
            <a:endParaRPr lang="de-DE" sz="2000"/>
          </a:p>
          <a:p>
            <a:pPr marL="0" indent="0">
              <a:buNone/>
            </a:pPr>
            <a:r>
              <a:rPr lang="de-DE" sz="2000" b="1"/>
              <a:t>WHY </a:t>
            </a:r>
            <a:r>
              <a:rPr lang="de-DE" sz="2000" b="1" err="1"/>
              <a:t>Supabase</a:t>
            </a:r>
            <a:r>
              <a:rPr lang="de-DE" sz="2000" b="1"/>
              <a:t>?</a:t>
            </a:r>
          </a:p>
          <a:p>
            <a:pPr marL="0" indent="0">
              <a:buNone/>
            </a:pPr>
            <a:r>
              <a:rPr lang="de-DE" sz="2000" b="1"/>
              <a:t>  </a:t>
            </a:r>
            <a:r>
              <a:rPr lang="de-DE" sz="2000"/>
              <a:t> -</a:t>
            </a:r>
            <a:r>
              <a:rPr lang="de-DE" sz="2000" b="1"/>
              <a:t> </a:t>
            </a:r>
            <a:r>
              <a:rPr lang="de-DE" sz="2000"/>
              <a:t>SQL </a:t>
            </a:r>
            <a:r>
              <a:rPr lang="de-DE" sz="2000" err="1"/>
              <a:t>based</a:t>
            </a:r>
            <a:r>
              <a:rPr lang="de-DE" sz="2000"/>
              <a:t> (easy </a:t>
            </a:r>
            <a:r>
              <a:rPr lang="de-DE" sz="2000" err="1"/>
              <a:t>to</a:t>
            </a:r>
            <a:r>
              <a:rPr lang="de-DE" sz="2000"/>
              <a:t> </a:t>
            </a:r>
            <a:r>
              <a:rPr lang="de-DE" sz="2000" err="1"/>
              <a:t>query</a:t>
            </a:r>
            <a:r>
              <a:rPr lang="de-DE" sz="2000"/>
              <a:t> &amp; </a:t>
            </a:r>
            <a:r>
              <a:rPr lang="de-DE" sz="2000" err="1"/>
              <a:t>refine</a:t>
            </a:r>
            <a:r>
              <a:rPr lang="de-DE" sz="2000"/>
              <a:t>)</a:t>
            </a:r>
          </a:p>
          <a:p>
            <a:pPr marL="0" indent="0">
              <a:buNone/>
            </a:pPr>
            <a:r>
              <a:rPr lang="de-DE" sz="2000"/>
              <a:t>   - Integrated </a:t>
            </a:r>
            <a:r>
              <a:rPr lang="de-DE" sz="2000" err="1"/>
              <a:t>authentification</a:t>
            </a:r>
            <a:r>
              <a:rPr lang="de-DE" sz="2000"/>
              <a:t> &amp; </a:t>
            </a:r>
            <a:r>
              <a:rPr lang="de-DE" sz="2000" err="1"/>
              <a:t>permissions</a:t>
            </a:r>
            <a:endParaRPr lang="de-DE" sz="2000"/>
          </a:p>
          <a:p>
            <a:pPr marL="0" indent="0">
              <a:buNone/>
            </a:pPr>
            <a:r>
              <a:rPr lang="de-DE" sz="2000"/>
              <a:t>   - Web UI so </a:t>
            </a:r>
            <a:r>
              <a:rPr lang="de-DE" sz="2000" err="1"/>
              <a:t>we</a:t>
            </a:r>
            <a:r>
              <a:rPr lang="de-DE" sz="2000"/>
              <a:t> </a:t>
            </a:r>
            <a:r>
              <a:rPr lang="de-DE" sz="2000" err="1"/>
              <a:t>can</a:t>
            </a:r>
            <a:r>
              <a:rPr lang="de-DE" sz="2000"/>
              <a:t> </a:t>
            </a:r>
            <a:r>
              <a:rPr lang="de-DE" sz="2000" err="1"/>
              <a:t>always</a:t>
            </a:r>
            <a:r>
              <a:rPr lang="de-DE" sz="2000"/>
              <a:t> </a:t>
            </a:r>
            <a:r>
              <a:rPr lang="de-DE" sz="2000" err="1"/>
              <a:t>look</a:t>
            </a:r>
            <a:r>
              <a:rPr lang="de-DE" sz="2000"/>
              <a:t> at </a:t>
            </a:r>
            <a:r>
              <a:rPr lang="de-DE" sz="2000" err="1"/>
              <a:t>the</a:t>
            </a:r>
            <a:r>
              <a:rPr lang="de-DE" sz="2000"/>
              <a:t> </a:t>
            </a:r>
            <a:r>
              <a:rPr lang="de-DE" sz="2000" err="1"/>
              <a:t>data</a:t>
            </a:r>
            <a:r>
              <a:rPr lang="de-DE" sz="2000"/>
              <a:t> </a:t>
            </a:r>
          </a:p>
          <a:p>
            <a:pPr marL="0" indent="0">
              <a:buNone/>
            </a:pPr>
            <a:r>
              <a:rPr lang="de-DE" sz="2000"/>
              <a:t>   </a:t>
            </a:r>
          </a:p>
          <a:p>
            <a:pPr marL="0" indent="0">
              <a:buNone/>
            </a:pPr>
            <a:endParaRPr lang="de-DE" sz="2000" b="1"/>
          </a:p>
        </p:txBody>
      </p:sp>
    </p:spTree>
    <p:extLst>
      <p:ext uri="{BB962C8B-B14F-4D97-AF65-F5344CB8AC3E}">
        <p14:creationId xmlns:p14="http://schemas.microsoft.com/office/powerpoint/2010/main" val="1464873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5003B2-EE37-0892-3BED-2CD0DFCF1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Capacity</a:t>
            </a:r>
            <a:r>
              <a:rPr lang="de-DE"/>
              <a:t> </a:t>
            </a:r>
            <a:r>
              <a:rPr lang="de-DE" err="1"/>
              <a:t>Supabase</a:t>
            </a:r>
            <a:r>
              <a:rPr lang="de-DE"/>
              <a:t> (</a:t>
            </a:r>
            <a:r>
              <a:rPr lang="de-DE" err="1"/>
              <a:t>free</a:t>
            </a:r>
            <a:r>
              <a:rPr lang="de-DE"/>
              <a:t> </a:t>
            </a:r>
            <a:r>
              <a:rPr lang="de-DE" err="1"/>
              <a:t>tier</a:t>
            </a:r>
            <a:r>
              <a:rPr lang="de-DE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8CE4B9-8821-33F7-AE65-B6795EB0D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sz="2000"/>
              <a:t>Database (500MB) </a:t>
            </a:r>
            <a:r>
              <a:rPr lang="de-DE" sz="2000" err="1"/>
              <a:t>Postgres</a:t>
            </a:r>
            <a:endParaRPr lang="de-DE" sz="2000"/>
          </a:p>
          <a:p>
            <a:r>
              <a:rPr lang="de-DE" sz="2000"/>
              <a:t>Storage (</a:t>
            </a:r>
            <a:r>
              <a:rPr lang="de-DE" sz="2000" err="1"/>
              <a:t>files</a:t>
            </a:r>
            <a:r>
              <a:rPr lang="de-DE" sz="2000"/>
              <a:t>) : 1 GB (</a:t>
            </a:r>
            <a:r>
              <a:rPr lang="de-DE" sz="2000" err="1"/>
              <a:t>for</a:t>
            </a:r>
            <a:r>
              <a:rPr lang="de-DE" sz="2000"/>
              <a:t> </a:t>
            </a:r>
            <a:r>
              <a:rPr lang="de-DE" sz="2000" err="1"/>
              <a:t>attachments</a:t>
            </a:r>
            <a:r>
              <a:rPr lang="de-DE" sz="2000"/>
              <a:t> like </a:t>
            </a:r>
            <a:r>
              <a:rPr lang="de-DE" sz="2000" err="1"/>
              <a:t>images</a:t>
            </a:r>
            <a:r>
              <a:rPr lang="de-DE" sz="2000"/>
              <a:t> </a:t>
            </a:r>
            <a:r>
              <a:rPr lang="de-DE" sz="2000" err="1"/>
              <a:t>or</a:t>
            </a:r>
            <a:r>
              <a:rPr lang="de-DE" sz="2000"/>
              <a:t> </a:t>
            </a:r>
            <a:r>
              <a:rPr lang="de-DE" sz="2000" err="1"/>
              <a:t>something</a:t>
            </a:r>
            <a:r>
              <a:rPr lang="de-DE" sz="2000"/>
              <a:t>)</a:t>
            </a:r>
          </a:p>
          <a:p>
            <a:r>
              <a:rPr lang="de-DE" sz="2000"/>
              <a:t>Monthly </a:t>
            </a:r>
            <a:r>
              <a:rPr lang="de-DE" sz="2000" err="1"/>
              <a:t>bandwith</a:t>
            </a:r>
            <a:r>
              <a:rPr lang="de-DE" sz="2000"/>
              <a:t>: </a:t>
            </a:r>
            <a:r>
              <a:rPr lang="de-DE" sz="2000" err="1">
                <a:ea typeface="+mn-lt"/>
                <a:cs typeface="+mn-lt"/>
              </a:rPr>
              <a:t>generous</a:t>
            </a:r>
            <a:r>
              <a:rPr lang="de-DE" sz="2000">
                <a:ea typeface="+mn-lt"/>
                <a:cs typeface="+mn-lt"/>
              </a:rPr>
              <a:t> (1–2 GB API </a:t>
            </a:r>
            <a:r>
              <a:rPr lang="de-DE" sz="2000" err="1">
                <a:ea typeface="+mn-lt"/>
                <a:cs typeface="+mn-lt"/>
              </a:rPr>
              <a:t>traffic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 err="1">
                <a:ea typeface="+mn-lt"/>
                <a:cs typeface="+mn-lt"/>
              </a:rPr>
              <a:t>before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 err="1">
                <a:ea typeface="+mn-lt"/>
                <a:cs typeface="+mn-lt"/>
              </a:rPr>
              <a:t>throttling</a:t>
            </a:r>
            <a:r>
              <a:rPr lang="de-DE" sz="2000">
                <a:ea typeface="+mn-lt"/>
                <a:cs typeface="+mn-lt"/>
              </a:rPr>
              <a:t>)</a:t>
            </a:r>
          </a:p>
          <a:p>
            <a:r>
              <a:rPr lang="de-DE" sz="2000"/>
              <a:t>Easy </a:t>
            </a:r>
            <a:r>
              <a:rPr lang="de-DE" sz="2000" err="1"/>
              <a:t>upgradeable</a:t>
            </a:r>
            <a:r>
              <a:rPr lang="de-DE" sz="2000"/>
              <a:t> </a:t>
            </a:r>
            <a:r>
              <a:rPr lang="de-DE" sz="2000">
                <a:ea typeface="+mn-lt"/>
                <a:cs typeface="+mn-lt"/>
              </a:rPr>
              <a:t>(</a:t>
            </a:r>
            <a:r>
              <a:rPr lang="de-DE" sz="2000" err="1">
                <a:ea typeface="+mn-lt"/>
                <a:cs typeface="+mn-lt"/>
              </a:rPr>
              <a:t>scales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 err="1">
                <a:ea typeface="+mn-lt"/>
                <a:cs typeface="+mn-lt"/>
              </a:rPr>
              <a:t>to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 err="1">
                <a:ea typeface="+mn-lt"/>
                <a:cs typeface="+mn-lt"/>
              </a:rPr>
              <a:t>tens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 err="1">
                <a:ea typeface="+mn-lt"/>
                <a:cs typeface="+mn-lt"/>
              </a:rPr>
              <a:t>of</a:t>
            </a:r>
            <a:r>
              <a:rPr lang="de-DE" sz="2000">
                <a:ea typeface="+mn-lt"/>
                <a:cs typeface="+mn-lt"/>
              </a:rPr>
              <a:t> GB </a:t>
            </a:r>
            <a:r>
              <a:rPr lang="de-DE" sz="2000" err="1">
                <a:ea typeface="+mn-lt"/>
                <a:cs typeface="+mn-lt"/>
              </a:rPr>
              <a:t>for</a:t>
            </a:r>
            <a:r>
              <a:rPr lang="de-DE" sz="2000">
                <a:ea typeface="+mn-lt"/>
                <a:cs typeface="+mn-lt"/>
              </a:rPr>
              <a:t> a </a:t>
            </a:r>
            <a:r>
              <a:rPr lang="de-DE" sz="2000" err="1">
                <a:ea typeface="+mn-lt"/>
                <a:cs typeface="+mn-lt"/>
              </a:rPr>
              <a:t>few</a:t>
            </a:r>
            <a:r>
              <a:rPr lang="de-DE" sz="2000">
                <a:ea typeface="+mn-lt"/>
                <a:cs typeface="+mn-lt"/>
              </a:rPr>
              <a:t> € / </a:t>
            </a:r>
            <a:r>
              <a:rPr lang="de-DE" sz="2000" err="1">
                <a:ea typeface="+mn-lt"/>
                <a:cs typeface="+mn-lt"/>
              </a:rPr>
              <a:t>month</a:t>
            </a:r>
            <a:r>
              <a:rPr lang="de-DE" sz="2000">
                <a:ea typeface="+mn-lt"/>
                <a:cs typeface="+mn-lt"/>
              </a:rPr>
              <a:t>)</a:t>
            </a:r>
          </a:p>
          <a:p>
            <a:r>
              <a:rPr lang="de-DE" sz="2000"/>
              <a:t>But </a:t>
            </a:r>
            <a:r>
              <a:rPr lang="de-DE" sz="2000" err="1"/>
              <a:t>honestly</a:t>
            </a:r>
            <a:r>
              <a:rPr lang="de-DE" sz="2000"/>
              <a:t>, 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 err="1">
                <a:ea typeface="+mn-lt"/>
                <a:cs typeface="+mn-lt"/>
              </a:rPr>
              <a:t>for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 err="1">
                <a:ea typeface="+mn-lt"/>
                <a:cs typeface="+mn-lt"/>
              </a:rPr>
              <a:t>our</a:t>
            </a:r>
            <a:r>
              <a:rPr lang="de-DE" sz="2000">
                <a:ea typeface="+mn-lt"/>
                <a:cs typeface="+mn-lt"/>
              </a:rPr>
              <a:t> prototype : </a:t>
            </a:r>
            <a:r>
              <a:rPr lang="de-DE" sz="2000" b="1" err="1">
                <a:ea typeface="+mn-lt"/>
                <a:cs typeface="+mn-lt"/>
              </a:rPr>
              <a:t>hundreds</a:t>
            </a:r>
            <a:r>
              <a:rPr lang="de-DE" sz="2000" b="1">
                <a:ea typeface="+mn-lt"/>
                <a:cs typeface="+mn-lt"/>
              </a:rPr>
              <a:t> </a:t>
            </a:r>
            <a:r>
              <a:rPr lang="de-DE" sz="2000" b="1" err="1">
                <a:ea typeface="+mn-lt"/>
                <a:cs typeface="+mn-lt"/>
              </a:rPr>
              <a:t>of</a:t>
            </a:r>
            <a:r>
              <a:rPr lang="de-DE" sz="2000" b="1">
                <a:ea typeface="+mn-lt"/>
                <a:cs typeface="+mn-lt"/>
              </a:rPr>
              <a:t> </a:t>
            </a:r>
            <a:r>
              <a:rPr lang="de-DE" sz="2000" b="1" err="1">
                <a:ea typeface="+mn-lt"/>
                <a:cs typeface="+mn-lt"/>
              </a:rPr>
              <a:t>thousands</a:t>
            </a:r>
            <a:r>
              <a:rPr lang="de-DE" sz="2000" b="1">
                <a:ea typeface="+mn-lt"/>
                <a:cs typeface="+mn-lt"/>
              </a:rPr>
              <a:t> </a:t>
            </a:r>
            <a:r>
              <a:rPr lang="de-DE" sz="2000" b="1" err="1">
                <a:ea typeface="+mn-lt"/>
                <a:cs typeface="+mn-lt"/>
              </a:rPr>
              <a:t>of</a:t>
            </a:r>
            <a:r>
              <a:rPr lang="de-DE" sz="2000" b="1">
                <a:ea typeface="+mn-lt"/>
                <a:cs typeface="+mn-lt"/>
              </a:rPr>
              <a:t> </a:t>
            </a:r>
            <a:r>
              <a:rPr lang="de-DE" sz="2000" b="1" err="1">
                <a:ea typeface="+mn-lt"/>
                <a:cs typeface="+mn-lt"/>
              </a:rPr>
              <a:t>events</a:t>
            </a:r>
            <a:r>
              <a:rPr lang="de-DE" sz="2000">
                <a:ea typeface="+mn-lt"/>
                <a:cs typeface="+mn-lt"/>
              </a:rPr>
              <a:t>, </a:t>
            </a:r>
            <a:r>
              <a:rPr lang="de-DE" sz="2000" err="1">
                <a:ea typeface="+mn-lt"/>
                <a:cs typeface="+mn-lt"/>
              </a:rPr>
              <a:t>plenty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 err="1">
                <a:ea typeface="+mn-lt"/>
                <a:cs typeface="+mn-lt"/>
              </a:rPr>
              <a:t>for</a:t>
            </a:r>
            <a:r>
              <a:rPr lang="de-DE" sz="2000">
                <a:ea typeface="+mn-lt"/>
                <a:cs typeface="+mn-lt"/>
              </a:rPr>
              <a:t> </a:t>
            </a:r>
            <a:r>
              <a:rPr lang="de-DE" sz="2000" err="1">
                <a:ea typeface="+mn-lt"/>
                <a:cs typeface="+mn-lt"/>
              </a:rPr>
              <a:t>testing</a:t>
            </a:r>
            <a:r>
              <a:rPr lang="de-DE" sz="200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de-DE" sz="20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67661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1BC6A-9040-63D4-CB3F-2804491E3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ptos Display"/>
              </a:rPr>
              <a:t>Matching logic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8BEA2-A18A-5BB4-D0B1-FC6976C70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DE" sz="2000" u="sng"/>
              <a:t>Pipeline Overview:</a:t>
            </a:r>
            <a:endParaRPr lang="en-US" sz="2000" u="sng"/>
          </a:p>
          <a:p>
            <a:pPr marL="514350" indent="-514350">
              <a:buAutoNum type="arabicPeriod"/>
            </a:pPr>
            <a:r>
              <a:rPr lang="en-US" sz="2000"/>
              <a:t>Text construction: weighted concatenation</a:t>
            </a:r>
            <a:br>
              <a:rPr lang="en-US" sz="2000"/>
            </a:br>
            <a:r>
              <a:rPr lang="en-US" sz="2000"/>
              <a:t> → title (×4) &gt; subtitle (×2) &gt; description</a:t>
            </a:r>
            <a:endParaRPr lang="en-DE" sz="2000"/>
          </a:p>
          <a:p>
            <a:pPr marL="514350" indent="-514350">
              <a:buAutoNum type="arabicPeriod"/>
            </a:pPr>
            <a:r>
              <a:rPr lang="en-US" sz="2000"/>
              <a:t>Embedding:</a:t>
            </a:r>
            <a:endParaRPr lang="en-DE" sz="2000"/>
          </a:p>
          <a:p>
            <a:pPr lvl="1"/>
            <a:r>
              <a:rPr lang="en-US" sz="2000"/>
              <a:t>Model: "paraphrase-multilingual-mpnet-base-v2" (SBERT)</a:t>
            </a:r>
            <a:endParaRPr lang="en-DE" sz="2000"/>
          </a:p>
          <a:p>
            <a:pPr lvl="1"/>
            <a:r>
              <a:rPr lang="en-US" sz="2000"/>
              <a:t>Encodes events + interest descriptions into a shared 768-D space</a:t>
            </a:r>
            <a:endParaRPr lang="en-DE" sz="2000"/>
          </a:p>
          <a:p>
            <a:pPr lvl="1"/>
            <a:r>
              <a:rPr lang="en-US" sz="2000"/>
              <a:t>Score = cosine similarity</a:t>
            </a:r>
            <a:endParaRPr lang="en-DE" sz="2000"/>
          </a:p>
          <a:p>
            <a:pPr marL="514350" indent="-514350">
              <a:buAutoNum type="arabicPeriod"/>
            </a:pPr>
            <a:r>
              <a:rPr lang="en-US" sz="2000"/>
              <a:t>Freshness: exponential time decay → boosts upcoming events</a:t>
            </a:r>
          </a:p>
          <a:p>
            <a:pPr marL="514350" indent="-514350">
              <a:buAutoNum type="arabicPeriod"/>
            </a:pPr>
            <a:r>
              <a:rPr lang="en-US" sz="2000"/>
              <a:t>Fusion: score = 0.9 × similarity + 0.1 × freshness</a:t>
            </a:r>
          </a:p>
          <a:p>
            <a:pPr marL="514350" indent="-514350">
              <a:buAutoNum type="arabicPeriod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62492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A5DD-767D-D203-28AC-5CC6BB48F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Matching logic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D7791-BD77-CA15-9598-96CC0CD25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sz="2000"/>
              <a:t>Optional </a:t>
            </a:r>
            <a:r>
              <a:rPr lang="en-US" sz="2000" err="1"/>
              <a:t>rerank</a:t>
            </a:r>
            <a:r>
              <a:rPr lang="en-US" sz="2000"/>
              <a:t>: "cross-encoder/mmarco-mMiniLMv2-L12-H384-v1": to correct semantic mismatches SBERT might miss</a:t>
            </a:r>
          </a:p>
          <a:p>
            <a:pPr marL="457200" indent="-457200"/>
            <a:r>
              <a:rPr lang="en-US" sz="2000"/>
              <a:t>MMR </a:t>
            </a:r>
            <a:r>
              <a:rPr lang="en-US" sz="2000">
                <a:ea typeface="+mn-lt"/>
                <a:cs typeface="+mn-lt"/>
              </a:rPr>
              <a:t>(Maximal Marginal Relevance)</a:t>
            </a:r>
            <a:r>
              <a:rPr lang="en-US" sz="2000"/>
              <a:t> diversity (λ = 0.3): to ensure topic variety among top candidates</a:t>
            </a:r>
          </a:p>
          <a:p>
            <a:pPr marL="457200" indent="-457200"/>
            <a:r>
              <a:rPr lang="en-US" sz="2000"/>
              <a:t>Other rules for now: skip past events, cap ≤ 2 per day/organizer, ensure ≥ 1 cultural if relevant</a:t>
            </a:r>
          </a:p>
        </p:txBody>
      </p:sp>
    </p:spTree>
    <p:extLst>
      <p:ext uri="{BB962C8B-B14F-4D97-AF65-F5344CB8AC3E}">
        <p14:creationId xmlns:p14="http://schemas.microsoft.com/office/powerpoint/2010/main" val="2658622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BD4CB-C257-98CA-8ADA-CA86E01E9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 stack and UI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02F9F-961B-0DD1-BA09-3961CA6CD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Backend: Python, </a:t>
            </a:r>
            <a:r>
              <a:rPr lang="en-US" sz="2000" err="1"/>
              <a:t>FastAPI</a:t>
            </a:r>
            <a:endParaRPr lang="en-US" sz="2000"/>
          </a:p>
          <a:p>
            <a:r>
              <a:rPr lang="en-US" sz="2000"/>
              <a:t>Frontend: Design via Figma &amp; Execution via Typescript, React, Ant UI-Kit</a:t>
            </a:r>
          </a:p>
          <a:p>
            <a:r>
              <a:rPr lang="en-US" sz="2000"/>
              <a:t>Feature ideas so far:</a:t>
            </a:r>
          </a:p>
          <a:p>
            <a:pPr lvl="1"/>
            <a:r>
              <a:rPr lang="en-US" sz="2000"/>
              <a:t>Profile setup: (study program, interests)</a:t>
            </a:r>
          </a:p>
          <a:p>
            <a:pPr lvl="1"/>
            <a:r>
              <a:rPr lang="en-US" sz="2000"/>
              <a:t>Image generation with AI for event icons</a:t>
            </a:r>
          </a:p>
          <a:p>
            <a:pPr lvl="1"/>
            <a:r>
              <a:rPr lang="en-US" sz="2000"/>
              <a:t>“Recommended for you” list, filters</a:t>
            </a:r>
          </a:p>
          <a:p>
            <a:pPr lvl="1"/>
            <a:r>
              <a:rPr lang="en-US" sz="2000"/>
              <a:t>Export .</a:t>
            </a:r>
            <a:r>
              <a:rPr lang="en-US" sz="2000" err="1"/>
              <a:t>ics</a:t>
            </a:r>
            <a:r>
              <a:rPr lang="en-US" sz="2000"/>
              <a:t> for each event, share link (maybe?)</a:t>
            </a:r>
          </a:p>
          <a:p>
            <a:pPr lvl="1"/>
            <a:r>
              <a:rPr lang="en-US" sz="2000"/>
              <a:t>Additional if there is time: feedback buttons to track interest of user (e.g. “Like/Hide”)</a:t>
            </a:r>
            <a:endParaRPr lang="en-DE" sz="2000"/>
          </a:p>
        </p:txBody>
      </p:sp>
    </p:spTree>
    <p:extLst>
      <p:ext uri="{BB962C8B-B14F-4D97-AF65-F5344CB8AC3E}">
        <p14:creationId xmlns:p14="http://schemas.microsoft.com/office/powerpoint/2010/main" val="1446871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F5C735-5369-347D-C80B-88E9F06AC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Automation </a:t>
            </a:r>
            <a:r>
              <a:rPr lang="de-DE" err="1"/>
              <a:t>idea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AF0514-1C41-251F-EF8E-2B40E431A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sz="2000" err="1"/>
              <a:t>Dockerized</a:t>
            </a:r>
            <a:r>
              <a:rPr lang="de-DE" sz="2000"/>
              <a:t> ETL </a:t>
            </a:r>
            <a:r>
              <a:rPr lang="de-DE" sz="2000" err="1"/>
              <a:t>fetches</a:t>
            </a:r>
            <a:r>
              <a:rPr lang="de-DE" sz="2000"/>
              <a:t> </a:t>
            </a:r>
            <a:r>
              <a:rPr lang="de-DE" sz="2000" err="1"/>
              <a:t>mails</a:t>
            </a:r>
            <a:r>
              <a:rPr lang="de-DE" sz="2000"/>
              <a:t> -&gt; </a:t>
            </a:r>
            <a:r>
              <a:rPr lang="de-DE" sz="2000" err="1"/>
              <a:t>parses</a:t>
            </a:r>
            <a:r>
              <a:rPr lang="de-DE" sz="2000"/>
              <a:t> -&gt; </a:t>
            </a:r>
            <a:r>
              <a:rPr lang="de-DE" sz="2000" err="1"/>
              <a:t>uploads</a:t>
            </a:r>
            <a:r>
              <a:rPr lang="de-DE" sz="2000"/>
              <a:t> </a:t>
            </a:r>
            <a:r>
              <a:rPr lang="de-DE" sz="2000" err="1"/>
              <a:t>to</a:t>
            </a:r>
            <a:r>
              <a:rPr lang="de-DE" sz="2000"/>
              <a:t> </a:t>
            </a:r>
            <a:r>
              <a:rPr lang="de-DE" sz="2000" err="1"/>
              <a:t>Supabase</a:t>
            </a:r>
            <a:endParaRPr lang="de-DE" sz="2000"/>
          </a:p>
          <a:p>
            <a:r>
              <a:rPr lang="de-DE" sz="2000"/>
              <a:t>Container </a:t>
            </a:r>
            <a:r>
              <a:rPr lang="de-DE" sz="2000" err="1"/>
              <a:t>can</a:t>
            </a:r>
            <a:r>
              <a:rPr lang="de-DE" sz="2000"/>
              <a:t> </a:t>
            </a:r>
            <a:r>
              <a:rPr lang="de-DE" sz="2000" err="1"/>
              <a:t>run</a:t>
            </a:r>
            <a:r>
              <a:rPr lang="de-DE" sz="2000"/>
              <a:t> </a:t>
            </a:r>
            <a:r>
              <a:rPr lang="de-DE" sz="2000" err="1"/>
              <a:t>identically</a:t>
            </a:r>
            <a:r>
              <a:rPr lang="de-DE" sz="2000"/>
              <a:t> </a:t>
            </a:r>
            <a:r>
              <a:rPr lang="de-DE" sz="2000" err="1"/>
              <a:t>everywhere</a:t>
            </a:r>
            <a:endParaRPr lang="de-DE" sz="2000"/>
          </a:p>
          <a:p>
            <a:r>
              <a:rPr lang="de-DE" sz="2000" err="1"/>
              <a:t>We</a:t>
            </a:r>
            <a:r>
              <a:rPr lang="de-DE" sz="2000"/>
              <a:t> </a:t>
            </a:r>
            <a:r>
              <a:rPr lang="de-DE" sz="2000" err="1"/>
              <a:t>even</a:t>
            </a:r>
            <a:r>
              <a:rPr lang="de-DE" sz="2000"/>
              <a:t> </a:t>
            </a:r>
            <a:r>
              <a:rPr lang="de-DE" sz="2000" err="1"/>
              <a:t>could</a:t>
            </a:r>
            <a:r>
              <a:rPr lang="de-DE" sz="2000"/>
              <a:t> deploy </a:t>
            </a:r>
            <a:r>
              <a:rPr lang="de-DE" sz="2000" err="1"/>
              <a:t>it</a:t>
            </a:r>
            <a:r>
              <a:rPr lang="de-DE" sz="2000"/>
              <a:t> on an </a:t>
            </a:r>
            <a:r>
              <a:rPr lang="de-DE" sz="2000" err="1"/>
              <a:t>small</a:t>
            </a:r>
            <a:r>
              <a:rPr lang="de-DE" sz="2000"/>
              <a:t> VM (AWS) </a:t>
            </a:r>
            <a:r>
              <a:rPr lang="de-DE" sz="2000" err="1"/>
              <a:t>with</a:t>
            </a:r>
            <a:r>
              <a:rPr lang="de-DE" sz="2000"/>
              <a:t> </a:t>
            </a:r>
            <a:r>
              <a:rPr lang="de-DE" sz="2000" err="1"/>
              <a:t>cron</a:t>
            </a:r>
            <a:r>
              <a:rPr lang="de-DE" sz="2000"/>
              <a:t> </a:t>
            </a:r>
            <a:r>
              <a:rPr lang="de-DE" sz="2000" err="1"/>
              <a:t>schedule</a:t>
            </a:r>
            <a:endParaRPr lang="de-DE" sz="2000"/>
          </a:p>
          <a:p>
            <a:r>
              <a:rPr lang="de-DE" sz="2000"/>
              <a:t>Dashboard </a:t>
            </a:r>
            <a:r>
              <a:rPr lang="de-DE" sz="2000" err="1"/>
              <a:t>queries</a:t>
            </a:r>
            <a:r>
              <a:rPr lang="de-DE" sz="2000"/>
              <a:t> </a:t>
            </a:r>
            <a:r>
              <a:rPr lang="de-DE" sz="2000" err="1"/>
              <a:t>Supabase</a:t>
            </a:r>
            <a:r>
              <a:rPr lang="de-DE" sz="2000"/>
              <a:t> </a:t>
            </a:r>
            <a:r>
              <a:rPr lang="de-DE" sz="2000" err="1"/>
              <a:t>directly</a:t>
            </a:r>
            <a:r>
              <a:rPr lang="de-DE" sz="2000"/>
              <a:t> via </a:t>
            </a:r>
            <a:r>
              <a:rPr lang="de-DE" sz="2000" err="1"/>
              <a:t>client</a:t>
            </a:r>
            <a:r>
              <a:rPr lang="de-DE" sz="2000"/>
              <a:t> </a:t>
            </a:r>
            <a:r>
              <a:rPr lang="de-DE" sz="2000" err="1"/>
              <a:t>library</a:t>
            </a:r>
            <a:r>
              <a:rPr lang="de-DE" sz="2000"/>
              <a:t> – RLS </a:t>
            </a:r>
            <a:r>
              <a:rPr lang="de-DE" sz="2000" err="1"/>
              <a:t>ensures</a:t>
            </a:r>
            <a:r>
              <a:rPr lang="de-DE" sz="2000"/>
              <a:t> </a:t>
            </a:r>
            <a:r>
              <a:rPr lang="de-DE" sz="2000" err="1"/>
              <a:t>secure</a:t>
            </a:r>
            <a:r>
              <a:rPr lang="de-DE" sz="2000"/>
              <a:t> </a:t>
            </a:r>
            <a:r>
              <a:rPr lang="de-DE" sz="2000" err="1"/>
              <a:t>access</a:t>
            </a:r>
            <a:r>
              <a:rPr lang="de-DE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1880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EBC54-F6EF-0B99-E58B-9F0259827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timeline and goals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EA78C-02B6-264C-EB2F-F2814275F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/>
              <a:t>Environment setup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Data extraction and structuring</a:t>
            </a:r>
          </a:p>
          <a:p>
            <a:pPr lvl="1"/>
            <a:r>
              <a:rPr lang="en-US" sz="2000"/>
              <a:t>Parse mails </a:t>
            </a:r>
          </a:p>
          <a:p>
            <a:pPr lvl="1"/>
            <a:r>
              <a:rPr lang="en-US" sz="2000"/>
              <a:t>Extract key event fields</a:t>
            </a:r>
          </a:p>
          <a:p>
            <a:pPr lvl="1"/>
            <a:r>
              <a:rPr lang="en-US" sz="2000"/>
              <a:t>Data storing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Implement personalization</a:t>
            </a:r>
          </a:p>
          <a:p>
            <a:pPr lvl="1"/>
            <a:r>
              <a:rPr lang="en-US" sz="2000"/>
              <a:t>Match user interests with events</a:t>
            </a:r>
          </a:p>
          <a:p>
            <a:pPr lvl="1"/>
            <a:r>
              <a:rPr lang="en-US" sz="2000"/>
              <a:t>Rank most relevant events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Prototype UI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Enhance user experience</a:t>
            </a:r>
          </a:p>
          <a:p>
            <a:pPr lvl="1"/>
            <a:r>
              <a:rPr lang="en-US" sz="2000"/>
              <a:t>Improve layout and interactivity</a:t>
            </a:r>
          </a:p>
          <a:p>
            <a:pPr lvl="1"/>
            <a:r>
              <a:rPr lang="en-US" sz="2000"/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3485966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62CB5C684C9542B4BF213A6785A1D0" ma:contentTypeVersion="3" ma:contentTypeDescription="Create a new document." ma:contentTypeScope="" ma:versionID="4fc0ef54d062092782751de321c663f1">
  <xsd:schema xmlns:xsd="http://www.w3.org/2001/XMLSchema" xmlns:xs="http://www.w3.org/2001/XMLSchema" xmlns:p="http://schemas.microsoft.com/office/2006/metadata/properties" xmlns:ns2="bd0e522a-851c-4e4e-82c0-d92ba8b18dbc" targetNamespace="http://schemas.microsoft.com/office/2006/metadata/properties" ma:root="true" ma:fieldsID="4a658384f07b336c6a5ea0ef3c375e41" ns2:_="">
    <xsd:import namespace="bd0e522a-851c-4e4e-82c0-d92ba8b18d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0e522a-851c-4e4e-82c0-d92ba8b18d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E99E38-1F60-4EDB-9BA7-CADDE20FEBB8}">
  <ds:schemaRefs>
    <ds:schemaRef ds:uri="bd0e522a-851c-4e4e-82c0-d92ba8b18d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C6F9DF2-8A92-4221-9E4B-83AFC42F830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E8597EA-522E-41F5-8221-87FBF2C8BD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Breitbild</PresentationFormat>
  <Slides>10</Slides>
  <Notes>1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1" baseType="lpstr">
      <vt:lpstr>Office Theme</vt:lpstr>
      <vt:lpstr> Personalized event recommendation app for UT students</vt:lpstr>
      <vt:lpstr>Motivation</vt:lpstr>
      <vt:lpstr>Getting structured data</vt:lpstr>
      <vt:lpstr>Storing data </vt:lpstr>
      <vt:lpstr>Capacity Supabase (free tier)</vt:lpstr>
      <vt:lpstr>Matching logic</vt:lpstr>
      <vt:lpstr>Matching logic continued</vt:lpstr>
      <vt:lpstr>Tech stack and UI</vt:lpstr>
      <vt:lpstr>Automation idea</vt:lpstr>
      <vt:lpstr>Project timeline and 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Veja Sovaite</dc:creator>
  <cp:revision>2</cp:revision>
  <dcterms:created xsi:type="dcterms:W3CDTF">2025-10-27T17:19:39Z</dcterms:created>
  <dcterms:modified xsi:type="dcterms:W3CDTF">2025-11-01T16:34:02Z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0x0101006E62CB5C684C9542B4BF213A6785A1D0</vt:lpwstr>
  </property>
</Properties>
</file>